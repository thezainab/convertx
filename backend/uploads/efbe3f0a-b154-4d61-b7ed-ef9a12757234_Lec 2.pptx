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4" r:id="rId7"/>
    <p:sldId id="265" r:id="rId8"/>
    <p:sldId id="267" r:id="rId9"/>
    <p:sldId id="268" r:id="rId10"/>
    <p:sldId id="266" r:id="rId11"/>
    <p:sldId id="261"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424" autoAdjust="0"/>
  </p:normalViewPr>
  <p:slideViewPr>
    <p:cSldViewPr snapToGrid="0">
      <p:cViewPr varScale="1">
        <p:scale>
          <a:sx n="80" d="100"/>
          <a:sy n="80" d="100"/>
        </p:scale>
        <p:origin x="754" y="4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A1C1A8B-C5F8-4B8C-9BD5-1D095EE8B63B}"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F16EDD-F6A2-4F4C-B071-C1CFF326A2F6}"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5962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A1C1A8B-C5F8-4B8C-9BD5-1D095EE8B63B}"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F16EDD-F6A2-4F4C-B071-C1CFF326A2F6}" type="slidenum">
              <a:rPr lang="en-US" smtClean="0"/>
              <a:t>‹#›</a:t>
            </a:fld>
            <a:endParaRPr lang="en-US"/>
          </a:p>
        </p:txBody>
      </p:sp>
    </p:spTree>
    <p:extLst>
      <p:ext uri="{BB962C8B-B14F-4D97-AF65-F5344CB8AC3E}">
        <p14:creationId xmlns:p14="http://schemas.microsoft.com/office/powerpoint/2010/main" val="1824037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A1C1A8B-C5F8-4B8C-9BD5-1D095EE8B63B}"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F16EDD-F6A2-4F4C-B071-C1CFF326A2F6}"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8296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A1C1A8B-C5F8-4B8C-9BD5-1D095EE8B63B}" type="datetimeFigureOut">
              <a:rPr lang="en-US" smtClean="0"/>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F16EDD-F6A2-4F4C-B071-C1CFF326A2F6}" type="slidenum">
              <a:rPr lang="en-US" smtClean="0"/>
              <a:t>‹#›</a:t>
            </a:fld>
            <a:endParaRPr lang="en-US"/>
          </a:p>
        </p:txBody>
      </p:sp>
    </p:spTree>
    <p:extLst>
      <p:ext uri="{BB962C8B-B14F-4D97-AF65-F5344CB8AC3E}">
        <p14:creationId xmlns:p14="http://schemas.microsoft.com/office/powerpoint/2010/main" val="3811273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A1C1A8B-C5F8-4B8C-9BD5-1D095EE8B63B}" type="datetimeFigureOut">
              <a:rPr lang="en-US" smtClean="0"/>
              <a:t>9/22/2025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6F16EDD-F6A2-4F4C-B071-C1CFF326A2F6}" type="slidenum">
              <a:rPr lang="en-US" smtClean="0"/>
              <a:t>‹#›</a:t>
            </a:fld>
            <a:endParaRPr lang="en-US"/>
          </a:p>
        </p:txBody>
      </p:sp>
    </p:spTree>
    <p:extLst>
      <p:ext uri="{BB962C8B-B14F-4D97-AF65-F5344CB8AC3E}">
        <p14:creationId xmlns:p14="http://schemas.microsoft.com/office/powerpoint/2010/main" val="36267081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A1C1A8B-C5F8-4B8C-9BD5-1D095EE8B63B}" type="datetimeFigureOut">
              <a:rPr lang="en-US" smtClean="0"/>
              <a:t>9/22/2025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6F16EDD-F6A2-4F4C-B071-C1CFF326A2F6}" type="slidenum">
              <a:rPr lang="en-US" smtClean="0"/>
              <a:t>‹#›</a:t>
            </a:fld>
            <a:endParaRPr lang="en-US"/>
          </a:p>
        </p:txBody>
      </p:sp>
    </p:spTree>
    <p:extLst>
      <p:ext uri="{BB962C8B-B14F-4D97-AF65-F5344CB8AC3E}">
        <p14:creationId xmlns:p14="http://schemas.microsoft.com/office/powerpoint/2010/main" val="163862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A1C1A8B-C5F8-4B8C-9BD5-1D095EE8B63B}" type="datetimeFigureOut">
              <a:rPr lang="en-US" smtClean="0"/>
              <a:t>9/22/2025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26F16EDD-F6A2-4F4C-B071-C1CFF326A2F6}" type="slidenum">
              <a:rPr lang="en-US" smtClean="0"/>
              <a:t>‹#›</a:t>
            </a:fld>
            <a:endParaRPr lang="en-US"/>
          </a:p>
        </p:txBody>
      </p:sp>
    </p:spTree>
    <p:extLst>
      <p:ext uri="{BB962C8B-B14F-4D97-AF65-F5344CB8AC3E}">
        <p14:creationId xmlns:p14="http://schemas.microsoft.com/office/powerpoint/2010/main" val="3933109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A1C1A8B-C5F8-4B8C-9BD5-1D095EE8B63B}" type="datetimeFigureOut">
              <a:rPr lang="en-US" smtClean="0"/>
              <a:t>9/22/2025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6F16EDD-F6A2-4F4C-B071-C1CFF326A2F6}" type="slidenum">
              <a:rPr lang="en-US" smtClean="0"/>
              <a:t>‹#›</a:t>
            </a:fld>
            <a:endParaRPr lang="en-US"/>
          </a:p>
        </p:txBody>
      </p:sp>
    </p:spTree>
    <p:extLst>
      <p:ext uri="{BB962C8B-B14F-4D97-AF65-F5344CB8AC3E}">
        <p14:creationId xmlns:p14="http://schemas.microsoft.com/office/powerpoint/2010/main" val="2564331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A1C1A8B-C5F8-4B8C-9BD5-1D095EE8B63B}" type="datetimeFigureOut">
              <a:rPr lang="en-US" smtClean="0"/>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F16EDD-F6A2-4F4C-B071-C1CFF326A2F6}" type="slidenum">
              <a:rPr lang="en-US" smtClean="0"/>
              <a:t>‹#›</a:t>
            </a:fld>
            <a:endParaRPr lang="en-US"/>
          </a:p>
        </p:txBody>
      </p:sp>
    </p:spTree>
    <p:extLst>
      <p:ext uri="{BB962C8B-B14F-4D97-AF65-F5344CB8AC3E}">
        <p14:creationId xmlns:p14="http://schemas.microsoft.com/office/powerpoint/2010/main" val="3140740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A1C1A8B-C5F8-4B8C-9BD5-1D095EE8B63B}"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F16EDD-F6A2-4F4C-B071-C1CFF326A2F6}" type="slidenum">
              <a:rPr lang="en-US" smtClean="0"/>
              <a:t>‹#›</a:t>
            </a:fld>
            <a:endParaRPr lang="en-US"/>
          </a:p>
        </p:txBody>
      </p:sp>
    </p:spTree>
    <p:extLst>
      <p:ext uri="{BB962C8B-B14F-4D97-AF65-F5344CB8AC3E}">
        <p14:creationId xmlns:p14="http://schemas.microsoft.com/office/powerpoint/2010/main" val="3221236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A1C1A8B-C5F8-4B8C-9BD5-1D095EE8B63B}"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F16EDD-F6A2-4F4C-B071-C1CFF326A2F6}" type="slidenum">
              <a:rPr lang="en-US" smtClean="0"/>
              <a:t>‹#›</a:t>
            </a:fld>
            <a:endParaRPr lang="en-US"/>
          </a:p>
        </p:txBody>
      </p:sp>
    </p:spTree>
    <p:extLst>
      <p:ext uri="{BB962C8B-B14F-4D97-AF65-F5344CB8AC3E}">
        <p14:creationId xmlns:p14="http://schemas.microsoft.com/office/powerpoint/2010/main" val="4060405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A1C1A8B-C5F8-4B8C-9BD5-1D095EE8B63B}" type="datetimeFigureOut">
              <a:rPr lang="en-US" smtClean="0"/>
              <a:t>9/22/2025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6F16EDD-F6A2-4F4C-B071-C1CFF326A2F6}"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609668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6800" y="556609"/>
            <a:ext cx="9144000" cy="569277"/>
          </a:xfrm>
        </p:spPr>
        <p:txBody>
          <a:bodyPr>
            <a:normAutofit/>
          </a:bodyPr>
          <a:lstStyle/>
          <a:p>
            <a:r>
              <a:rPr lang="en-US" sz="3200" b="1" dirty="0" smtClean="0">
                <a:effectLst>
                  <a:outerShdw blurRad="38100" dist="38100" dir="2700000" algn="tl">
                    <a:srgbClr val="000000">
                      <a:alpha val="43137"/>
                    </a:srgbClr>
                  </a:outerShdw>
                </a:effectLst>
              </a:rPr>
              <a:t>Computer Organization and Assembly Language</a:t>
            </a:r>
            <a:endParaRPr lang="en-US" sz="3200" b="1"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066800" y="5936948"/>
            <a:ext cx="10058400" cy="1143000"/>
          </a:xfrm>
        </p:spPr>
        <p:txBody>
          <a:bodyPr/>
          <a:lstStyle/>
          <a:p>
            <a:pPr algn="r"/>
            <a:r>
              <a:rPr lang="en-US" dirty="0" smtClean="0"/>
              <a:t>Amir Nawaz</a:t>
            </a:r>
            <a:endParaRPr lang="en-US" dirty="0"/>
          </a:p>
        </p:txBody>
      </p:sp>
      <p:sp>
        <p:nvSpPr>
          <p:cNvPr id="4" name="TextBox 3"/>
          <p:cNvSpPr txBox="1"/>
          <p:nvPr/>
        </p:nvSpPr>
        <p:spPr>
          <a:xfrm>
            <a:off x="1066800" y="3858768"/>
            <a:ext cx="1537665" cy="523220"/>
          </a:xfrm>
          <a:prstGeom prst="rect">
            <a:avLst/>
          </a:prstGeom>
          <a:noFill/>
        </p:spPr>
        <p:txBody>
          <a:bodyPr wrap="none" rtlCol="0">
            <a:spAutoFit/>
          </a:bodyPr>
          <a:lstStyle/>
          <a:p>
            <a:r>
              <a:rPr lang="en-US" sz="2800" dirty="0" smtClean="0"/>
              <a:t>Lecture 2</a:t>
            </a:r>
            <a:endParaRPr lang="en-US" sz="28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3952" y="0"/>
            <a:ext cx="1682496" cy="1682496"/>
          </a:xfrm>
          <a:prstGeom prst="rect">
            <a:avLst/>
          </a:prstGeom>
        </p:spPr>
      </p:pic>
    </p:spTree>
    <p:extLst>
      <p:ext uri="{BB962C8B-B14F-4D97-AF65-F5344CB8AC3E}">
        <p14:creationId xmlns:p14="http://schemas.microsoft.com/office/powerpoint/2010/main" val="31474986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9816" y="270088"/>
            <a:ext cx="3644524" cy="461665"/>
          </a:xfrm>
          <a:prstGeom prst="rect">
            <a:avLst/>
          </a:prstGeom>
        </p:spPr>
        <p:txBody>
          <a:bodyPr wrap="none">
            <a:spAutoFit/>
          </a:bodyPr>
          <a:lstStyle/>
          <a:p>
            <a:r>
              <a:rPr lang="en-US" sz="2400" b="1" i="0" dirty="0" smtClean="0">
                <a:solidFill>
                  <a:srgbClr val="666666"/>
                </a:solidFill>
                <a:effectLst/>
                <a:latin typeface="Arial Black" panose="020B0A04020102020204" pitchFamily="34" charset="0"/>
              </a:rPr>
              <a:t>Today we will learn?</a:t>
            </a:r>
            <a:endParaRPr lang="en-US" sz="2400" b="1" i="0" dirty="0">
              <a:solidFill>
                <a:srgbClr val="666666"/>
              </a:solidFill>
              <a:effectLst/>
              <a:latin typeface="Arial Black" panose="020B0A04020102020204" pitchFamily="34" charset="0"/>
            </a:endParaRPr>
          </a:p>
        </p:txBody>
      </p:sp>
      <p:sp>
        <p:nvSpPr>
          <p:cNvPr id="3" name="Rectangle 2"/>
          <p:cNvSpPr/>
          <p:nvPr/>
        </p:nvSpPr>
        <p:spPr>
          <a:xfrm>
            <a:off x="696120" y="814282"/>
            <a:ext cx="10329672" cy="3046988"/>
          </a:xfrm>
          <a:prstGeom prst="rect">
            <a:avLst/>
          </a:prstGeom>
        </p:spPr>
        <p:txBody>
          <a:bodyPr wrap="square">
            <a:spAutoFit/>
          </a:bodyPr>
          <a:lstStyle/>
          <a:p>
            <a:endParaRPr lang="en-US" sz="2400"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400" dirty="0" smtClean="0">
                <a:latin typeface="Arial" panose="020B0604020202020204" pitchFamily="34" charset="0"/>
                <a:cs typeface="Arial" panose="020B0604020202020204" pitchFamily="34" charset="0"/>
              </a:rPr>
              <a:t>Bus and </a:t>
            </a:r>
            <a:r>
              <a:rPr lang="en-US" sz="2400" dirty="0">
                <a:latin typeface="Arial" panose="020B0604020202020204" pitchFamily="34" charset="0"/>
                <a:cs typeface="Arial" panose="020B0604020202020204" pitchFamily="34" charset="0"/>
              </a:rPr>
              <a:t>I</a:t>
            </a:r>
            <a:r>
              <a:rPr lang="en-US" sz="2400" dirty="0" smtClean="0">
                <a:latin typeface="Arial" panose="020B0604020202020204" pitchFamily="34" charset="0"/>
                <a:cs typeface="Arial" panose="020B0604020202020204" pitchFamily="34" charset="0"/>
              </a:rPr>
              <a:t>ts types</a:t>
            </a:r>
          </a:p>
          <a:p>
            <a:pPr marL="285750" indent="-285750">
              <a:buFont typeface="Arial" panose="020B0604020202020204" pitchFamily="34" charset="0"/>
              <a:buChar char="•"/>
            </a:pPr>
            <a:r>
              <a:rPr lang="en-US" sz="2400" dirty="0" smtClean="0">
                <a:latin typeface="Arial" panose="020B0604020202020204" pitchFamily="34" charset="0"/>
                <a:cs typeface="Arial" panose="020B0604020202020204" pitchFamily="34" charset="0"/>
              </a:rPr>
              <a:t>Flowchart of conversion of High Level to Assembly then Machine Language</a:t>
            </a:r>
          </a:p>
          <a:p>
            <a:pPr marL="285750" indent="-285750">
              <a:buFont typeface="Arial" panose="020B0604020202020204" pitchFamily="34" charset="0"/>
              <a:buChar char="•"/>
            </a:pPr>
            <a:r>
              <a:rPr lang="en-US" sz="2400" dirty="0" smtClean="0">
                <a:latin typeface="Arial" panose="020B0604020202020204" pitchFamily="34" charset="0"/>
                <a:cs typeface="Arial" panose="020B0604020202020204" pitchFamily="34" charset="0"/>
              </a:rPr>
              <a:t>Why we need Register their comparison with other memory location</a:t>
            </a:r>
          </a:p>
          <a:p>
            <a:pPr marL="285750" indent="-285750">
              <a:buFont typeface="Arial" panose="020B0604020202020204" pitchFamily="34" charset="0"/>
              <a:buChar char="•"/>
            </a:pPr>
            <a:r>
              <a:rPr lang="en-US" sz="2400" dirty="0" smtClean="0">
                <a:latin typeface="Arial" panose="020B0604020202020204" pitchFamily="34" charset="0"/>
                <a:cs typeface="Arial" panose="020B0604020202020204" pitchFamily="34" charset="0"/>
              </a:rPr>
              <a:t>Register</a:t>
            </a:r>
          </a:p>
          <a:p>
            <a:pPr marL="285750" indent="-285750">
              <a:buFont typeface="Arial" panose="020B0604020202020204" pitchFamily="34" charset="0"/>
              <a:buChar char="•"/>
            </a:pPr>
            <a:r>
              <a:rPr lang="en-US" sz="2400" dirty="0" smtClean="0">
                <a:latin typeface="Arial" panose="020B0604020202020204" pitchFamily="34" charset="0"/>
                <a:cs typeface="Arial" panose="020B0604020202020204" pitchFamily="34" charset="0"/>
              </a:rPr>
              <a:t>What is the purpose of register </a:t>
            </a:r>
          </a:p>
          <a:p>
            <a:pPr marL="285750" indent="-285750">
              <a:buFont typeface="Arial" panose="020B0604020202020204" pitchFamily="34" charset="0"/>
              <a:buChar char="•"/>
            </a:pPr>
            <a:r>
              <a:rPr lang="en-US" sz="2400" dirty="0" smtClean="0">
                <a:latin typeface="Arial" panose="020B0604020202020204" pitchFamily="34" charset="0"/>
                <a:cs typeface="Arial" panose="020B0604020202020204" pitchFamily="34" charset="0"/>
              </a:rPr>
              <a:t>Types of register</a:t>
            </a:r>
          </a:p>
        </p:txBody>
      </p:sp>
    </p:spTree>
    <p:extLst>
      <p:ext uri="{BB962C8B-B14F-4D97-AF65-F5344CB8AC3E}">
        <p14:creationId xmlns:p14="http://schemas.microsoft.com/office/powerpoint/2010/main" val="42796547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1136" y="647438"/>
            <a:ext cx="1152880" cy="707886"/>
          </a:xfrm>
          <a:prstGeom prst="rect">
            <a:avLst/>
          </a:prstGeom>
        </p:spPr>
        <p:txBody>
          <a:bodyPr wrap="none">
            <a:spAutoFit/>
          </a:bodyPr>
          <a:lstStyle/>
          <a:p>
            <a:r>
              <a:rPr lang="en-US" sz="4000" b="1" dirty="0">
                <a:latin typeface="Arial" panose="020B0604020202020204" pitchFamily="34" charset="0"/>
                <a:cs typeface="Arial" panose="020B0604020202020204" pitchFamily="34" charset="0"/>
              </a:rPr>
              <a:t>Bus</a:t>
            </a:r>
          </a:p>
        </p:txBody>
      </p:sp>
      <p:sp>
        <p:nvSpPr>
          <p:cNvPr id="4" name="Rectangle 3"/>
          <p:cNvSpPr/>
          <p:nvPr/>
        </p:nvSpPr>
        <p:spPr>
          <a:xfrm>
            <a:off x="641136" y="1469934"/>
            <a:ext cx="11081472" cy="3170099"/>
          </a:xfrm>
          <a:prstGeom prst="rect">
            <a:avLst/>
          </a:prstGeom>
        </p:spPr>
        <p:txBody>
          <a:bodyPr wrap="square">
            <a:spAutoFit/>
          </a:bodyPr>
          <a:lstStyle/>
          <a:p>
            <a:pPr algn="just"/>
            <a:r>
              <a:rPr lang="en-US" sz="2000" dirty="0">
                <a:solidFill>
                  <a:srgbClr val="2D3748"/>
                </a:solidFill>
                <a:latin typeface="Arial" panose="020B0604020202020204" pitchFamily="34" charset="0"/>
                <a:cs typeface="Arial" panose="020B0604020202020204" pitchFamily="34" charset="0"/>
              </a:rPr>
              <a:t>In computer architecture, a bus is a collection of wires, chips, and slots inside the computer through which data are transmitted from one part of the computer to another to and from (in and out) from peripheral devices. It is often compared to a highway (pathways in the computer on which data travels). It is a set of parallel distinct wires, serving different purposes, which allow devices attached to it to communicate with the CPU.</a:t>
            </a:r>
          </a:p>
          <a:p>
            <a:pPr algn="just"/>
            <a:endParaRPr lang="en-US" sz="2000" dirty="0" smtClean="0">
              <a:solidFill>
                <a:srgbClr val="2D3748"/>
              </a:solidFill>
              <a:latin typeface="Arial" panose="020B0604020202020204" pitchFamily="34" charset="0"/>
              <a:cs typeface="Arial" panose="020B0604020202020204" pitchFamily="34" charset="0"/>
            </a:endParaRPr>
          </a:p>
          <a:p>
            <a:pPr algn="just"/>
            <a:r>
              <a:rPr lang="en-US" sz="2000" dirty="0" smtClean="0">
                <a:solidFill>
                  <a:srgbClr val="2D3748"/>
                </a:solidFill>
                <a:latin typeface="Arial" panose="020B0604020202020204" pitchFamily="34" charset="0"/>
                <a:cs typeface="Arial" panose="020B0604020202020204" pitchFamily="34" charset="0"/>
              </a:rPr>
              <a:t>The </a:t>
            </a:r>
            <a:r>
              <a:rPr lang="en-US" sz="2000" dirty="0">
                <a:solidFill>
                  <a:srgbClr val="2D3748"/>
                </a:solidFill>
                <a:latin typeface="Arial" panose="020B0604020202020204" pitchFamily="34" charset="0"/>
                <a:cs typeface="Arial" panose="020B0604020202020204" pitchFamily="34" charset="0"/>
              </a:rPr>
              <a:t>function of the bus are:</a:t>
            </a:r>
          </a:p>
          <a:p>
            <a:pPr algn="just">
              <a:buFont typeface="Arial" panose="020B0604020202020204" pitchFamily="34" charset="0"/>
              <a:buChar char="•"/>
            </a:pPr>
            <a:r>
              <a:rPr lang="en-US" sz="2000" dirty="0">
                <a:solidFill>
                  <a:srgbClr val="2D3748"/>
                </a:solidFill>
                <a:latin typeface="Arial" panose="020B0604020202020204" pitchFamily="34" charset="0"/>
                <a:cs typeface="Arial" panose="020B0604020202020204" pitchFamily="34" charset="0"/>
              </a:rPr>
              <a:t>It carries information from one component to another.</a:t>
            </a:r>
          </a:p>
          <a:p>
            <a:pPr algn="just">
              <a:buFont typeface="Arial" panose="020B0604020202020204" pitchFamily="34" charset="0"/>
              <a:buChar char="•"/>
            </a:pPr>
            <a:r>
              <a:rPr lang="en-US" sz="2000" dirty="0">
                <a:solidFill>
                  <a:srgbClr val="2D3748"/>
                </a:solidFill>
                <a:latin typeface="Arial" panose="020B0604020202020204" pitchFamily="34" charset="0"/>
                <a:cs typeface="Arial" panose="020B0604020202020204" pitchFamily="34" charset="0"/>
              </a:rPr>
              <a:t>It carries data, addresses, or control signals.</a:t>
            </a:r>
          </a:p>
          <a:p>
            <a:pPr algn="just">
              <a:buFont typeface="Arial" panose="020B0604020202020204" pitchFamily="34" charset="0"/>
              <a:buChar char="•"/>
            </a:pPr>
            <a:r>
              <a:rPr lang="en-US" sz="2000" dirty="0">
                <a:solidFill>
                  <a:srgbClr val="2D3748"/>
                </a:solidFill>
                <a:latin typeface="Arial" panose="020B0604020202020204" pitchFamily="34" charset="0"/>
                <a:cs typeface="Arial" panose="020B0604020202020204" pitchFamily="34" charset="0"/>
              </a:rPr>
              <a:t>One component of the component can interact with others by bus.</a:t>
            </a:r>
            <a:endParaRPr lang="en-US" sz="2000" b="0" i="0" dirty="0">
              <a:solidFill>
                <a:srgbClr val="2D3748"/>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684617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0288" y="597700"/>
            <a:ext cx="10603992" cy="1200329"/>
          </a:xfrm>
          <a:prstGeom prst="rect">
            <a:avLst/>
          </a:prstGeom>
        </p:spPr>
        <p:txBody>
          <a:bodyPr wrap="square">
            <a:spAutoFit/>
          </a:bodyPr>
          <a:lstStyle/>
          <a:p>
            <a:pPr algn="just"/>
            <a:r>
              <a:rPr lang="en-US" sz="3200" b="1" dirty="0" smtClean="0">
                <a:latin typeface="Arial" panose="020B0604020202020204" pitchFamily="34" charset="0"/>
                <a:cs typeface="Arial" panose="020B0604020202020204" pitchFamily="34" charset="0"/>
              </a:rPr>
              <a:t>Types/Parts of bus</a:t>
            </a:r>
          </a:p>
          <a:p>
            <a:pPr algn="just"/>
            <a:endParaRPr lang="en-US" sz="2000" b="1" dirty="0" smtClean="0">
              <a:latin typeface="Arial" panose="020B0604020202020204" pitchFamily="34" charset="0"/>
              <a:cs typeface="Arial" panose="020B0604020202020204" pitchFamily="34" charset="0"/>
            </a:endParaRPr>
          </a:p>
          <a:p>
            <a:pPr algn="just"/>
            <a:endParaRPr lang="en-US" sz="2000" b="1" dirty="0" smtClean="0">
              <a:latin typeface="Arial" panose="020B0604020202020204" pitchFamily="34" charset="0"/>
              <a:cs typeface="Arial" panose="020B0604020202020204" pitchFamily="34" charset="0"/>
            </a:endParaRPr>
          </a:p>
        </p:txBody>
      </p:sp>
      <p:sp>
        <p:nvSpPr>
          <p:cNvPr id="3" name="Rectangle 2"/>
          <p:cNvSpPr/>
          <p:nvPr/>
        </p:nvSpPr>
        <p:spPr>
          <a:xfrm>
            <a:off x="899160" y="1459683"/>
            <a:ext cx="9963912" cy="1384995"/>
          </a:xfrm>
          <a:prstGeom prst="rect">
            <a:avLst/>
          </a:prstGeom>
        </p:spPr>
        <p:txBody>
          <a:bodyPr wrap="square">
            <a:spAutoFit/>
          </a:bodyPr>
          <a:lstStyle/>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Control bus</a:t>
            </a: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Address bus</a:t>
            </a: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Data bus</a:t>
            </a:r>
          </a:p>
        </p:txBody>
      </p:sp>
    </p:spTree>
    <p:extLst>
      <p:ext uri="{BB962C8B-B14F-4D97-AF65-F5344CB8AC3E}">
        <p14:creationId xmlns:p14="http://schemas.microsoft.com/office/powerpoint/2010/main" val="21270494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1144" y="477488"/>
            <a:ext cx="10585704" cy="4801314"/>
          </a:xfrm>
          <a:prstGeom prst="rect">
            <a:avLst/>
          </a:prstGeom>
        </p:spPr>
        <p:txBody>
          <a:bodyPr wrap="square">
            <a:spAutoFit/>
          </a:bodyPr>
          <a:lstStyle/>
          <a:p>
            <a:r>
              <a:rPr lang="en-US" sz="2800" b="1" dirty="0" smtClean="0">
                <a:latin typeface="Arial" panose="020B0604020202020204" pitchFamily="34" charset="0"/>
                <a:cs typeface="Arial" panose="020B0604020202020204" pitchFamily="34" charset="0"/>
              </a:rPr>
              <a:t>Control Bus:</a:t>
            </a:r>
          </a:p>
          <a:p>
            <a:endParaRPr lang="en-US" sz="2000" b="1" dirty="0"/>
          </a:p>
          <a:p>
            <a:pPr algn="just"/>
            <a:r>
              <a:rPr lang="en-US" sz="2400" dirty="0"/>
              <a:t>The control bus carries the control signal. The control signal is used for controlling and coordinating the various activities across the computer. It is generated from the control unit within the CPU. Different architectures result in a differing number of lines of wires within the control bus, as each line is used to perform a specific task. For instance, different specific lines are used for each of the read, write, and reset requests. These are not a group of lines like address bus and data bus, but individual lines that provide a pulse to indicate a microprocessor operation. The control unit generates a specific control signal for every operation, such as memory read or input/ output operation. This signal is also used to identify a device type, with which the microprocessor intends to communicate.</a:t>
            </a:r>
          </a:p>
          <a:p>
            <a:pPr algn="just"/>
            <a:endParaRPr lang="en-US" dirty="0"/>
          </a:p>
        </p:txBody>
      </p:sp>
    </p:spTree>
    <p:extLst>
      <p:ext uri="{BB962C8B-B14F-4D97-AF65-F5344CB8AC3E}">
        <p14:creationId xmlns:p14="http://schemas.microsoft.com/office/powerpoint/2010/main" val="30856315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1144" y="477488"/>
            <a:ext cx="10585704" cy="4154984"/>
          </a:xfrm>
          <a:prstGeom prst="rect">
            <a:avLst/>
          </a:prstGeom>
        </p:spPr>
        <p:txBody>
          <a:bodyPr wrap="square">
            <a:spAutoFit/>
          </a:bodyPr>
          <a:lstStyle/>
          <a:p>
            <a:r>
              <a:rPr lang="en-US" sz="2800" b="1" dirty="0" smtClean="0">
                <a:latin typeface="Arial" panose="020B0604020202020204" pitchFamily="34" charset="0"/>
                <a:cs typeface="Arial" panose="020B0604020202020204" pitchFamily="34" charset="0"/>
              </a:rPr>
              <a:t>Address Bus:</a:t>
            </a:r>
          </a:p>
          <a:p>
            <a:endParaRPr lang="en-US" sz="2000" b="1" dirty="0"/>
          </a:p>
          <a:p>
            <a:pPr algn="just"/>
            <a:r>
              <a:rPr lang="en-US" sz="2400" dirty="0"/>
              <a:t>The address bus carries a memory address within the device. It allows the CPU to reference memory locations within the device. It connects the CPU and other peripherals and carries only memory addresses. In a computer system, each peripheral or memory location is identified by a numerical value, called an address and the address bus is used to carry this numerical value as well as it also contains a few control lines to carry control commands. </a:t>
            </a:r>
            <a:r>
              <a:rPr lang="en-US" sz="2400" dirty="0" smtClean="0"/>
              <a:t>The </a:t>
            </a:r>
            <a:r>
              <a:rPr lang="en-US" sz="2400" dirty="0"/>
              <a:t>processor uses the address bus to perform, identifying a peripheral or a memory location</a:t>
            </a:r>
            <a:r>
              <a:rPr lang="en-US" sz="2400" dirty="0" smtClean="0"/>
              <a:t>. </a:t>
            </a:r>
            <a:r>
              <a:rPr lang="en-US" sz="2400" dirty="0"/>
              <a:t>The address bus is unidirectional, bits flow in one direction, from the processor to a peripheral or a memory location.</a:t>
            </a:r>
          </a:p>
        </p:txBody>
      </p:sp>
    </p:spTree>
    <p:extLst>
      <p:ext uri="{BB962C8B-B14F-4D97-AF65-F5344CB8AC3E}">
        <p14:creationId xmlns:p14="http://schemas.microsoft.com/office/powerpoint/2010/main" val="20444113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1144" y="477488"/>
            <a:ext cx="10585704" cy="3046988"/>
          </a:xfrm>
          <a:prstGeom prst="rect">
            <a:avLst/>
          </a:prstGeom>
        </p:spPr>
        <p:txBody>
          <a:bodyPr wrap="square">
            <a:spAutoFit/>
          </a:bodyPr>
          <a:lstStyle/>
          <a:p>
            <a:r>
              <a:rPr lang="en-US" sz="2800" b="1" dirty="0" smtClean="0">
                <a:latin typeface="Arial" panose="020B0604020202020204" pitchFamily="34" charset="0"/>
                <a:cs typeface="Arial" panose="020B0604020202020204" pitchFamily="34" charset="0"/>
              </a:rPr>
              <a:t>Data Bus:</a:t>
            </a:r>
          </a:p>
          <a:p>
            <a:endParaRPr lang="en-US" sz="2000" b="1" dirty="0"/>
          </a:p>
          <a:p>
            <a:pPr algn="just"/>
            <a:r>
              <a:rPr lang="en-US" sz="2400" dirty="0"/>
              <a:t>Data bus transfers data from one location to another across the computer. The meaningful data which is to be sent or retrieved from a device is placed on these lines. The CPU uses a data bus to transfer data. It may be a 16-bit or 32-bit data bus. It is an electrical path that connects the CPU, memory, and other hardware devices on the motherboard. These lines are bidirectional, data flow in both directions between the processor and memory and peripheral devices.</a:t>
            </a:r>
            <a:endParaRPr lang="en-US" dirty="0"/>
          </a:p>
        </p:txBody>
      </p:sp>
    </p:spTree>
    <p:extLst>
      <p:ext uri="{BB962C8B-B14F-4D97-AF65-F5344CB8AC3E}">
        <p14:creationId xmlns:p14="http://schemas.microsoft.com/office/powerpoint/2010/main" val="4888091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1637" y="0"/>
            <a:ext cx="8658225" cy="6115050"/>
          </a:xfrm>
          <a:prstGeom prst="rect">
            <a:avLst/>
          </a:prstGeom>
        </p:spPr>
      </p:pic>
    </p:spTree>
    <p:extLst>
      <p:ext uri="{BB962C8B-B14F-4D97-AF65-F5344CB8AC3E}">
        <p14:creationId xmlns:p14="http://schemas.microsoft.com/office/powerpoint/2010/main" val="297821871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7038431"/>
          </a:xfrm>
          <a:prstGeom prst="rect">
            <a:avLst/>
          </a:prstGeom>
        </p:spPr>
      </p:pic>
    </p:spTree>
    <p:extLst>
      <p:ext uri="{BB962C8B-B14F-4D97-AF65-F5344CB8AC3E}">
        <p14:creationId xmlns:p14="http://schemas.microsoft.com/office/powerpoint/2010/main" val="29785085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5107"/>
            <a:ext cx="12192000" cy="7183107"/>
          </a:xfrm>
          <a:prstGeom prst="rect">
            <a:avLst/>
          </a:prstGeom>
        </p:spPr>
      </p:pic>
    </p:spTree>
    <p:extLst>
      <p:ext uri="{BB962C8B-B14F-4D97-AF65-F5344CB8AC3E}">
        <p14:creationId xmlns:p14="http://schemas.microsoft.com/office/powerpoint/2010/main" val="38043093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187" y="0"/>
            <a:ext cx="10696575" cy="6286500"/>
          </a:xfrm>
          <a:prstGeom prst="rect">
            <a:avLst/>
          </a:prstGeom>
        </p:spPr>
      </p:pic>
    </p:spTree>
    <p:extLst>
      <p:ext uri="{BB962C8B-B14F-4D97-AF65-F5344CB8AC3E}">
        <p14:creationId xmlns:p14="http://schemas.microsoft.com/office/powerpoint/2010/main" val="18741745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940825" y="571228"/>
            <a:ext cx="10679675" cy="5196286"/>
          </a:xfrm>
          <a:prstGeom prst="rect">
            <a:avLst/>
          </a:prstGeom>
          <a:solidFill>
            <a:srgbClr val="EBEE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5392"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0F1115"/>
                </a:solidFill>
                <a:effectLst/>
              </a:rPr>
              <a:t>These are the registers that an assembly language programmer can directly work with using instructions.</a:t>
            </a:r>
            <a:endParaRPr kumimoji="0" lang="en-US" altLang="en-US" sz="2400" b="1" i="0" u="none" strike="noStrike" cap="none" normalizeH="0" baseline="0" dirty="0" smtClean="0">
              <a:ln>
                <a:noFill/>
              </a:ln>
              <a:solidFill>
                <a:srgbClr val="0F1115"/>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rgbClr val="0F1115"/>
                </a:solidFill>
                <a:effectLst/>
              </a:rPr>
              <a:t>A. General-Purpose Registers (GPRs)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rgbClr val="0F1115"/>
                </a:solidFill>
                <a:effectLst/>
              </a:rPr>
              <a:t>Purpose:</a:t>
            </a:r>
            <a:r>
              <a:rPr kumimoji="0" lang="en-US" altLang="en-US" sz="2400" b="0" i="0" u="none" strike="noStrike" cap="none" normalizeH="0" baseline="0" dirty="0" smtClean="0">
                <a:ln>
                  <a:noFill/>
                </a:ln>
                <a:solidFill>
                  <a:srgbClr val="0F1115"/>
                </a:solidFill>
                <a:effectLst/>
              </a:rPr>
              <a:t> Designed to hold temporary data, intermediate results, and memory addresses. They are the "workhorses" of the CPU.</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rgbClr val="0F1115"/>
                </a:solidFill>
                <a:effectLst/>
              </a:rPr>
              <a:t>Explanation:</a:t>
            </a:r>
            <a:r>
              <a:rPr kumimoji="0" lang="en-US" altLang="en-US" sz="2400" b="0" i="0" u="none" strike="noStrike" cap="none" normalizeH="0" baseline="0" dirty="0" smtClean="0">
                <a:ln>
                  <a:noFill/>
                </a:ln>
                <a:solidFill>
                  <a:srgbClr val="0F1115"/>
                </a:solidFill>
                <a:effectLst/>
              </a:rPr>
              <a:t> Their name is slightly misleading because they are not </a:t>
            </a:r>
            <a:r>
              <a:rPr kumimoji="0" lang="en-US" altLang="en-US" sz="2400" b="0" i="1" u="none" strike="noStrike" cap="none" normalizeH="0" baseline="0" dirty="0" smtClean="0">
                <a:ln>
                  <a:noFill/>
                </a:ln>
                <a:solidFill>
                  <a:srgbClr val="0F1115"/>
                </a:solidFill>
                <a:effectLst/>
              </a:rPr>
              <a:t>truly</a:t>
            </a:r>
            <a:r>
              <a:rPr kumimoji="0" lang="en-US" altLang="en-US" sz="2400" b="0" i="0" u="none" strike="noStrike" cap="none" normalizeH="0" baseline="0" dirty="0" smtClean="0">
                <a:ln>
                  <a:noFill/>
                </a:ln>
                <a:solidFill>
                  <a:srgbClr val="0F1115"/>
                </a:solidFill>
                <a:effectLst/>
              </a:rPr>
              <a:t> general. While they can be used for various tasks, certain conventions and instructions may favor specific GPRs for special roles (e.g., ECX being used as a loop counter in x86, or AX being used for arithmetic).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rgbClr val="0F1115"/>
                </a:solidFill>
                <a:effectLst/>
              </a:rPr>
              <a:t>Examples:</a:t>
            </a:r>
            <a:endParaRPr kumimoji="0" lang="en-US" altLang="en-US" sz="2400" b="0" i="0" u="none" strike="noStrike" cap="none" normalizeH="0" baseline="0" dirty="0" smtClean="0">
              <a:ln>
                <a:noFill/>
              </a:ln>
              <a:solidFill>
                <a:srgbClr val="0F1115"/>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rgbClr val="0F1115"/>
                </a:solidFill>
                <a:effectLst/>
              </a:rPr>
              <a:t>x86-64:</a:t>
            </a:r>
            <a:r>
              <a:rPr kumimoji="0" lang="en-US" altLang="en-US" sz="2400" b="0" i="0" u="none" strike="noStrike" cap="none" normalizeH="0" baseline="0" dirty="0" smtClean="0">
                <a:ln>
                  <a:noFill/>
                </a:ln>
                <a:solidFill>
                  <a:srgbClr val="0F1115"/>
                </a:solidFill>
                <a:effectLst/>
              </a:rPr>
              <a:t> RAX, RBX, RCX, RDX, RSI, RDI, R8-R15.</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rgbClr val="0F1115"/>
                </a:solidFill>
                <a:effectLst/>
              </a:rPr>
              <a:t>ARM:</a:t>
            </a:r>
            <a:r>
              <a:rPr kumimoji="0" lang="en-US" altLang="en-US" sz="2400" b="0" i="0" u="none" strike="noStrike" cap="none" normalizeH="0" baseline="0" dirty="0" smtClean="0">
                <a:ln>
                  <a:noFill/>
                </a:ln>
                <a:solidFill>
                  <a:srgbClr val="0F1115"/>
                </a:solidFill>
                <a:effectLst/>
              </a:rPr>
              <a:t> R0-R12.</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rgbClr val="0F1115"/>
                </a:solidFill>
                <a:effectLst/>
              </a:rPr>
              <a:t>MIPS:</a:t>
            </a:r>
            <a:r>
              <a:rPr kumimoji="0" lang="en-US" altLang="en-US" sz="2400" b="0" i="0" u="none" strike="noStrike" cap="none" normalizeH="0" baseline="0" dirty="0" smtClean="0">
                <a:ln>
                  <a:noFill/>
                </a:ln>
                <a:solidFill>
                  <a:srgbClr val="0F1115"/>
                </a:solidFill>
                <a:effectLst/>
              </a:rPr>
              <a:t> $t0-$t9 (temporaries), $s0-$s7 (saved variables).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12656155"/>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docProps/app.xml><?xml version="1.0" encoding="utf-8"?>
<Properties xmlns="http://schemas.openxmlformats.org/officeDocument/2006/extended-properties" xmlns:vt="http://schemas.openxmlformats.org/officeDocument/2006/docPropsVTypes">
  <Template>TM02900769[[fn=Retrospect]]</Template>
  <TotalTime>378</TotalTime>
  <Words>580</Words>
  <Application>Microsoft Office PowerPoint</Application>
  <PresentationFormat>Widescreen</PresentationFormat>
  <Paragraphs>39</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Arial Black</vt:lpstr>
      <vt:lpstr>Calibri</vt:lpstr>
      <vt:lpstr>Calibri Light</vt:lpstr>
      <vt:lpstr>Retrospect</vt:lpstr>
      <vt:lpstr>Computer Organization and Assembly Language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Organization and Assembly Language</dc:title>
  <dc:creator>dell</dc:creator>
  <cp:lastModifiedBy>Microsoft account</cp:lastModifiedBy>
  <cp:revision>21</cp:revision>
  <dcterms:created xsi:type="dcterms:W3CDTF">2023-09-25T17:32:36Z</dcterms:created>
  <dcterms:modified xsi:type="dcterms:W3CDTF">2025-09-22T15:20:58Z</dcterms:modified>
</cp:coreProperties>
</file>