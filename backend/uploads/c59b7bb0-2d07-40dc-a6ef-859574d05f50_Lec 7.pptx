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70" r:id="rId5"/>
    <p:sldId id="271" r:id="rId6"/>
    <p:sldId id="27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83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5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82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86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3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18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87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3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12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7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5BABECE-03B5-42A8-BAA7-E582B7A8AD40}" type="datetimeFigureOut">
              <a:rPr lang="en-US" smtClean="0"/>
              <a:t>16-Oct-23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9D29B1E-27BB-4F73-9245-1D5620F4E37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61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s.stanford.edu/05au-cs240c/lab/i386/XCHG.ht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556609"/>
            <a:ext cx="9144000" cy="569277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Organization and Assembly Language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5936948"/>
            <a:ext cx="10058400" cy="1143000"/>
          </a:xfrm>
        </p:spPr>
        <p:txBody>
          <a:bodyPr/>
          <a:lstStyle/>
          <a:p>
            <a:pPr algn="r"/>
            <a:r>
              <a:rPr lang="en-US" dirty="0" smtClean="0"/>
              <a:t>Amir Nawaz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3858768"/>
            <a:ext cx="1537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Lecture </a:t>
            </a:r>
            <a:r>
              <a:rPr lang="en-US" sz="2800" dirty="0" smtClean="0"/>
              <a:t>7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952" y="0"/>
            <a:ext cx="1682496" cy="168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5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9816" y="270088"/>
            <a:ext cx="3644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0" dirty="0" smtClean="0">
                <a:solidFill>
                  <a:srgbClr val="666666"/>
                </a:solidFill>
                <a:effectLst/>
                <a:latin typeface="Arial Black" panose="020B0A04020102020204" pitchFamily="34" charset="0"/>
              </a:rPr>
              <a:t>Today we will learn?</a:t>
            </a:r>
            <a:endParaRPr lang="en-US" sz="2400" b="1" i="0" dirty="0">
              <a:solidFill>
                <a:srgbClr val="666666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6120" y="814282"/>
            <a:ext cx="103296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Lea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instruction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inc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dec,neg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instructions</a:t>
            </a:r>
          </a:p>
          <a:p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xcgh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instruction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7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35917" y="411022"/>
            <a:ext cx="38625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LEA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 instruction </a:t>
            </a:r>
            <a:endParaRPr lang="en-US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1301496" y="1357991"/>
            <a:ext cx="95615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3C484E"/>
                </a:solidFill>
                <a:latin typeface="Arial" panose="020B0604020202020204" pitchFamily="34" charset="0"/>
              </a:rPr>
              <a:t>LEA stands for "Load Effective Address". </a:t>
            </a:r>
            <a:endParaRPr lang="en-US" dirty="0" smtClean="0">
              <a:solidFill>
                <a:srgbClr val="3C484E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dirty="0" smtClean="0">
                <a:solidFill>
                  <a:srgbClr val="3C484E"/>
                </a:solidFill>
                <a:latin typeface="Arial" panose="020B0604020202020204" pitchFamily="34" charset="0"/>
              </a:rPr>
              <a:t>LEA </a:t>
            </a:r>
            <a:r>
              <a:rPr lang="en-US" dirty="0">
                <a:solidFill>
                  <a:srgbClr val="3C484E"/>
                </a:solidFill>
                <a:latin typeface="Arial" panose="020B0604020202020204" pitchFamily="34" charset="0"/>
              </a:rPr>
              <a:t>is an assembly instruction that is used to store the effective memory address from an operand to a register.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01496" y="3043166"/>
            <a:ext cx="1420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For 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8091" y="3734643"/>
            <a:ext cx="2258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Lea </a:t>
            </a:r>
            <a:r>
              <a:rPr lang="en-US" sz="3600" dirty="0" err="1" smtClean="0"/>
              <a:t>dx,msg</a:t>
            </a:r>
            <a:endParaRPr lang="en-US" sz="3600" dirty="0"/>
          </a:p>
        </p:txBody>
      </p:sp>
      <p:sp>
        <p:nvSpPr>
          <p:cNvPr id="7" name="Right Arrow 6"/>
          <p:cNvSpPr/>
          <p:nvPr/>
        </p:nvSpPr>
        <p:spPr>
          <a:xfrm>
            <a:off x="4855464" y="4057809"/>
            <a:ext cx="1536192" cy="233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123176" y="3974280"/>
            <a:ext cx="1913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 err="1" smtClean="0"/>
              <a:t>dx,offset</a:t>
            </a:r>
            <a:r>
              <a:rPr lang="en-US" dirty="0" smtClean="0"/>
              <a:t> </a:t>
            </a:r>
            <a:r>
              <a:rPr lang="en-US" dirty="0" err="1" smtClean="0"/>
              <a:t>msg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17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35917" y="411022"/>
            <a:ext cx="377859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INC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 instruction </a:t>
            </a:r>
            <a:endParaRPr lang="en-US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389888" y="1380744"/>
            <a:ext cx="6885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INC instruction( add the value of 1 in the destination.)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267200" y="2539799"/>
            <a:ext cx="2031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Inc</a:t>
            </a:r>
            <a:r>
              <a:rPr lang="en-US" sz="2400" dirty="0" smtClean="0"/>
              <a:t> destination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792224" y="2029152"/>
            <a:ext cx="9528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Syntax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1792224" y="3518654"/>
            <a:ext cx="1420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For Example: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1704" y="4160520"/>
            <a:ext cx="30823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mov</a:t>
            </a:r>
            <a:r>
              <a:rPr lang="en-US" dirty="0"/>
              <a:t> </a:t>
            </a:r>
            <a:r>
              <a:rPr lang="en-US" dirty="0" smtClean="0"/>
              <a:t>ax,1000H	; ax=1000H</a:t>
            </a:r>
          </a:p>
          <a:p>
            <a:r>
              <a:rPr lang="en-US" dirty="0" err="1" smtClean="0"/>
              <a:t>Inc</a:t>
            </a:r>
            <a:r>
              <a:rPr lang="en-US" dirty="0" smtClean="0"/>
              <a:t> ax		;ax=1001H</a:t>
            </a:r>
          </a:p>
          <a:p>
            <a:r>
              <a:rPr lang="en-US" dirty="0" err="1" smtClean="0"/>
              <a:t>Inc</a:t>
            </a:r>
            <a:r>
              <a:rPr lang="en-US" dirty="0" smtClean="0"/>
              <a:t> ax		;ax=1002H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3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35917" y="411022"/>
            <a:ext cx="39196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DEC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 instruction </a:t>
            </a:r>
            <a:endParaRPr lang="en-US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389888" y="1380744"/>
            <a:ext cx="8055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DEC instruction( Subtract the value of 1 from the destination.)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061744" y="4242816"/>
            <a:ext cx="30823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mov</a:t>
            </a:r>
            <a:r>
              <a:rPr lang="en-US" dirty="0"/>
              <a:t> </a:t>
            </a:r>
            <a:r>
              <a:rPr lang="en-US" dirty="0" smtClean="0"/>
              <a:t>ax,1000H	; ax=1001H</a:t>
            </a:r>
          </a:p>
          <a:p>
            <a:r>
              <a:rPr lang="en-US" dirty="0" err="1" smtClean="0"/>
              <a:t>dec</a:t>
            </a:r>
            <a:r>
              <a:rPr lang="en-US" dirty="0" smtClean="0"/>
              <a:t> ax		;ax=1000H</a:t>
            </a:r>
          </a:p>
          <a:p>
            <a:r>
              <a:rPr lang="en-US" dirty="0" err="1" smtClean="0"/>
              <a:t>dec</a:t>
            </a:r>
            <a:r>
              <a:rPr lang="en-US" dirty="0" smtClean="0"/>
              <a:t> ax		;ax=0FFFH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92224" y="3518654"/>
            <a:ext cx="1420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For 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0" y="2539799"/>
            <a:ext cx="2108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dec</a:t>
            </a:r>
            <a:r>
              <a:rPr lang="en-US" sz="2400" dirty="0" smtClean="0"/>
              <a:t> destination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792224" y="2029152"/>
            <a:ext cx="9528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Syntax</a:t>
            </a:r>
            <a:r>
              <a:rPr lang="en-US" b="1" dirty="0" smtClean="0"/>
              <a:t>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3615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35917" y="411022"/>
            <a:ext cx="39485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NEG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 instruction </a:t>
            </a:r>
            <a:endParaRPr lang="en-US" sz="4000" b="1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962075" y="1286256"/>
            <a:ext cx="7696200" cy="108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37160" bIns="137160">
            <a:spAutoFit/>
          </a:bodyPr>
          <a:lstStyle>
            <a:lvl1pPr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Reverses the sign of an operand. </a:t>
            </a:r>
            <a:r>
              <a:rPr lang="en-US" altLang="en-US" dirty="0" smtClean="0"/>
              <a:t>		</a:t>
            </a:r>
            <a:endParaRPr lang="en-US" altLang="en-US" dirty="0"/>
          </a:p>
          <a:p>
            <a:pPr eaLnBrk="1" hangingPunct="1">
              <a:spcBef>
                <a:spcPct val="50000"/>
              </a:spcBef>
            </a:pPr>
            <a:r>
              <a:rPr lang="en-US" altLang="en-US" dirty="0" smtClean="0"/>
              <a:t>Operand </a:t>
            </a:r>
            <a:r>
              <a:rPr lang="en-US" altLang="en-US" dirty="0"/>
              <a:t>can be a register or memory operand.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67712" y="2895600"/>
            <a:ext cx="6477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37160" bIns="228600"/>
          <a:lstStyle>
            <a:lvl1pPr>
              <a:tabLst>
                <a:tab pos="457200" algn="l"/>
                <a:tab pos="3657600" algn="l"/>
                <a:tab pos="4114800" algn="l"/>
              </a:tabLs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7200" algn="l"/>
                <a:tab pos="3657600" algn="l"/>
                <a:tab pos="4114800" algn="l"/>
              </a:tabLs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7200" algn="l"/>
                <a:tab pos="3657600" algn="l"/>
                <a:tab pos="4114800" algn="l"/>
              </a:tabLs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7200" algn="l"/>
                <a:tab pos="3657600" algn="l"/>
                <a:tab pos="4114800" algn="l"/>
              </a:tabLs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7200" algn="l"/>
                <a:tab pos="3657600" algn="l"/>
                <a:tab pos="4114800" algn="l"/>
              </a:tabLs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3657600" algn="l"/>
                <a:tab pos="4114800" algn="l"/>
              </a:tabLs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3657600" algn="l"/>
                <a:tab pos="4114800" algn="l"/>
              </a:tabLs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3657600" algn="l"/>
                <a:tab pos="4114800" algn="l"/>
              </a:tabLs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3657600" algn="l"/>
                <a:tab pos="4114800" algn="l"/>
              </a:tabLst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800" b="1" dirty="0">
                <a:latin typeface="Courier New" panose="02070309020205020404" pitchFamily="49" charset="0"/>
              </a:rPr>
              <a:t>.data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800" b="1" dirty="0" err="1">
                <a:latin typeface="Courier New" panose="02070309020205020404" pitchFamily="49" charset="0"/>
              </a:rPr>
              <a:t>valB</a:t>
            </a:r>
            <a:r>
              <a:rPr lang="en-US" altLang="en-US" sz="1800" b="1" dirty="0">
                <a:latin typeface="Courier New" panose="02070309020205020404" pitchFamily="49" charset="0"/>
              </a:rPr>
              <a:t> BYTE -1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800" b="1" dirty="0" err="1">
                <a:latin typeface="Courier New" panose="02070309020205020404" pitchFamily="49" charset="0"/>
              </a:rPr>
              <a:t>valW</a:t>
            </a:r>
            <a:r>
              <a:rPr lang="en-US" altLang="en-US" sz="1800" b="1" dirty="0">
                <a:latin typeface="Courier New" panose="02070309020205020404" pitchFamily="49" charset="0"/>
              </a:rPr>
              <a:t> WORD +32767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800" b="1" dirty="0">
                <a:latin typeface="Courier New" panose="02070309020205020404" pitchFamily="49" charset="0"/>
              </a:rPr>
              <a:t>.code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mov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al,valB</a:t>
            </a:r>
            <a:r>
              <a:rPr lang="en-US" altLang="en-US" sz="1800" b="1" dirty="0">
                <a:latin typeface="Courier New" panose="02070309020205020404" pitchFamily="49" charset="0"/>
              </a:rPr>
              <a:t>	; AL = -1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neg</a:t>
            </a:r>
            <a:r>
              <a:rPr lang="en-US" altLang="en-US" sz="1800" b="1" dirty="0">
                <a:latin typeface="Courier New" panose="02070309020205020404" pitchFamily="49" charset="0"/>
              </a:rPr>
              <a:t> al	; AL = +1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neg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valW</a:t>
            </a:r>
            <a:r>
              <a:rPr lang="en-US" altLang="en-US" sz="1800" b="1" dirty="0">
                <a:latin typeface="Courier New" panose="02070309020205020404" pitchFamily="49" charset="0"/>
              </a:rPr>
              <a:t>	;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valW</a:t>
            </a:r>
            <a:r>
              <a:rPr lang="en-US" altLang="en-US" sz="1800" b="1" dirty="0">
                <a:latin typeface="Courier New" panose="02070309020205020404" pitchFamily="49" charset="0"/>
              </a:rPr>
              <a:t> = -32767</a:t>
            </a:r>
          </a:p>
        </p:txBody>
      </p:sp>
    </p:spTree>
    <p:extLst>
      <p:ext uri="{BB962C8B-B14F-4D97-AF65-F5344CB8AC3E}">
        <p14:creationId xmlns:p14="http://schemas.microsoft.com/office/powerpoint/2010/main" val="1101910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0704" y="1082332"/>
            <a:ext cx="9646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The </a:t>
            </a:r>
            <a:r>
              <a:rPr lang="en-US" dirty="0">
                <a:latin typeface="Times New Roman" panose="02020603050405020304" pitchFamily="18" charset="0"/>
                <a:hlinkClick r:id="rId2"/>
              </a:rPr>
              <a:t>XCHG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 instruction can swap two byte operands, two word operands, or two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doubleword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operands. The operands for the </a:t>
            </a:r>
            <a:r>
              <a:rPr lang="en-US" dirty="0">
                <a:latin typeface="Times New Roman" panose="02020603050405020304" pitchFamily="18" charset="0"/>
                <a:hlinkClick r:id="rId2"/>
              </a:rPr>
              <a:t>XCHG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 instruction may be two register operands, or a register operand with a memory operand.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0051" y="2316558"/>
            <a:ext cx="11099513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For Example:</a:t>
            </a:r>
          </a:p>
          <a:p>
            <a:endParaRPr lang="en-US" sz="2000" dirty="0"/>
          </a:p>
          <a:p>
            <a:r>
              <a:rPr lang="en-US" sz="2000" dirty="0" smtClean="0"/>
              <a:t>	</a:t>
            </a:r>
            <a:r>
              <a:rPr lang="en-US" sz="2400" dirty="0" err="1" smtClean="0"/>
              <a:t>xchg</a:t>
            </a:r>
            <a:r>
              <a:rPr lang="en-US" sz="2400" dirty="0" smtClean="0"/>
              <a:t> </a:t>
            </a:r>
            <a:r>
              <a:rPr lang="en-US" sz="2400" dirty="0" err="1" smtClean="0"/>
              <a:t>ax,bx</a:t>
            </a:r>
            <a:r>
              <a:rPr lang="en-US" sz="2400" dirty="0" smtClean="0"/>
              <a:t> 		;it will exchange the value of ax register with </a:t>
            </a:r>
            <a:r>
              <a:rPr lang="en-US" sz="2400" dirty="0" err="1" smtClean="0"/>
              <a:t>bx</a:t>
            </a:r>
            <a:r>
              <a:rPr lang="en-US" sz="2400" dirty="0" smtClean="0"/>
              <a:t> register</a:t>
            </a:r>
          </a:p>
          <a:p>
            <a:endParaRPr lang="en-US" sz="2400" dirty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xchg</a:t>
            </a:r>
            <a:r>
              <a:rPr lang="en-US" sz="2400" dirty="0" smtClean="0"/>
              <a:t> var1,var2		;</a:t>
            </a:r>
            <a:r>
              <a:rPr lang="en-US" sz="2400" dirty="0"/>
              <a:t>it will exchange the value of </a:t>
            </a:r>
            <a:r>
              <a:rPr lang="en-US" sz="2400" dirty="0" smtClean="0"/>
              <a:t>var1 memory operand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			with var2 memory operand</a:t>
            </a:r>
          </a:p>
          <a:p>
            <a:r>
              <a:rPr lang="en-US" sz="2400" dirty="0" smtClean="0"/>
              <a:t>	</a:t>
            </a:r>
            <a:endParaRPr lang="en-US" sz="2400" dirty="0"/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xchg</a:t>
            </a:r>
            <a:r>
              <a:rPr lang="en-US" sz="2400" dirty="0" smtClean="0"/>
              <a:t> ax,var1		;</a:t>
            </a:r>
            <a:r>
              <a:rPr lang="en-US" sz="2400" dirty="0"/>
              <a:t>it will exchange the value of ax register </a:t>
            </a:r>
            <a:r>
              <a:rPr lang="en-US" sz="2400" dirty="0" smtClean="0"/>
              <a:t>with var1 which is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			 a memory operand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204981" y="63550"/>
            <a:ext cx="437651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hlinkClick r:id="rId2"/>
              </a:rPr>
              <a:t>XCHG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 instruction 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202542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260</TotalTime>
  <Words>129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Courier New</vt:lpstr>
      <vt:lpstr>Times New Roman</vt:lpstr>
      <vt:lpstr>Retrospect</vt:lpstr>
      <vt:lpstr>Computer Organization and Assembly Language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Assembly Language</dc:title>
  <dc:creator>dell</dc:creator>
  <cp:lastModifiedBy>dell</cp:lastModifiedBy>
  <cp:revision>32</cp:revision>
  <dcterms:created xsi:type="dcterms:W3CDTF">2023-10-09T18:11:09Z</dcterms:created>
  <dcterms:modified xsi:type="dcterms:W3CDTF">2023-10-16T17:52:44Z</dcterms:modified>
</cp:coreProperties>
</file>